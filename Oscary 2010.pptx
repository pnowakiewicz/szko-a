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yl z motywem 1 — Ak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siatk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4230" y="-2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6AF-B6D2-4841-A2CC-895756B72B49}" type="datetimeFigureOut">
              <a:rPr lang="pl-PL" smtClean="0"/>
              <a:t>01.12.2025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C9393-8E26-47CA-93DA-1E2462230D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8660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6AF-B6D2-4841-A2CC-895756B72B49}" type="datetimeFigureOut">
              <a:rPr lang="pl-PL" smtClean="0"/>
              <a:t>01.12.2025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C9393-8E26-47CA-93DA-1E2462230D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5825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6AF-B6D2-4841-A2CC-895756B72B49}" type="datetimeFigureOut">
              <a:rPr lang="pl-PL" smtClean="0"/>
              <a:t>01.12.2025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C9393-8E26-47CA-93DA-1E2462230D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40318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6AF-B6D2-4841-A2CC-895756B72B49}" type="datetimeFigureOut">
              <a:rPr lang="pl-PL" smtClean="0"/>
              <a:t>01.12.2025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C9393-8E26-47CA-93DA-1E2462230D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2946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6AF-B6D2-4841-A2CC-895756B72B49}" type="datetimeFigureOut">
              <a:rPr lang="pl-PL" smtClean="0"/>
              <a:t>01.12.2025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C9393-8E26-47CA-93DA-1E2462230D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89192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6AF-B6D2-4841-A2CC-895756B72B49}" type="datetimeFigureOut">
              <a:rPr lang="pl-PL" smtClean="0"/>
              <a:t>01.12.2025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C9393-8E26-47CA-93DA-1E2462230D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51417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6AF-B6D2-4841-A2CC-895756B72B49}" type="datetimeFigureOut">
              <a:rPr lang="pl-PL" smtClean="0"/>
              <a:t>01.12.2025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C9393-8E26-47CA-93DA-1E2462230D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002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6AF-B6D2-4841-A2CC-895756B72B49}" type="datetimeFigureOut">
              <a:rPr lang="pl-PL" smtClean="0"/>
              <a:t>01.12.2025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C9393-8E26-47CA-93DA-1E2462230D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25386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C9393-8E26-47CA-93DA-1E2462230D5C}" type="slidenum">
              <a:rPr lang="pl-PL" smtClean="0"/>
              <a:t>‹#›</a:t>
            </a:fld>
            <a:endParaRPr lang="pl-P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6AF-B6D2-4841-A2CC-895756B72B49}" type="datetimeFigureOut">
              <a:rPr lang="pl-PL" smtClean="0"/>
              <a:t>01.12.2025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62702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6AF-B6D2-4841-A2CC-895756B72B49}" type="datetimeFigureOut">
              <a:rPr lang="pl-PL" smtClean="0"/>
              <a:t>01.12.2025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C9393-8E26-47CA-93DA-1E2462230D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80035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6AF-B6D2-4841-A2CC-895756B72B49}" type="datetimeFigureOut">
              <a:rPr lang="pl-PL" smtClean="0"/>
              <a:t>01.12.2025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C9393-8E26-47CA-93DA-1E2462230D5C}" type="slidenum">
              <a:rPr lang="pl-PL" smtClean="0"/>
              <a:t>‹#›</a:t>
            </a:fld>
            <a:endParaRPr lang="pl-P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2726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6AF-B6D2-4841-A2CC-895756B72B49}" type="datetimeFigureOut">
              <a:rPr lang="pl-PL" smtClean="0"/>
              <a:t>01.12.2025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C9393-8E26-47CA-93DA-1E2462230D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9362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6AF-B6D2-4841-A2CC-895756B72B49}" type="datetimeFigureOut">
              <a:rPr lang="pl-PL" smtClean="0"/>
              <a:t>01.12.2025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C9393-8E26-47CA-93DA-1E2462230D5C}" type="slidenum">
              <a:rPr lang="pl-PL" smtClean="0"/>
              <a:t>‹#›</a:t>
            </a:fld>
            <a:endParaRPr lang="pl-P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9231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6AF-B6D2-4841-A2CC-895756B72B49}" type="datetimeFigureOut">
              <a:rPr lang="pl-PL" smtClean="0"/>
              <a:t>01.12.2025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C9393-8E26-47CA-93DA-1E2462230D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9739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6AF-B6D2-4841-A2CC-895756B72B49}" type="datetimeFigureOut">
              <a:rPr lang="pl-PL" smtClean="0"/>
              <a:t>01.12.2025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C9393-8E26-47CA-93DA-1E2462230D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9271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6AF-B6D2-4841-A2CC-895756B72B49}" type="datetimeFigureOut">
              <a:rPr lang="pl-PL" smtClean="0"/>
              <a:t>01.12.2025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C9393-8E26-47CA-93DA-1E2462230D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9452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C26AF-B6D2-4841-A2CC-895756B72B49}" type="datetimeFigureOut">
              <a:rPr lang="pl-PL" smtClean="0"/>
              <a:t>01.12.2025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92C9393-8E26-47CA-93DA-1E2462230D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77615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IbFvqFYRT4?feature=oembed" TargetMode="External"/><Relationship Id="rId6" Type="http://schemas.openxmlformats.org/officeDocument/2006/relationships/image" Target="../media/image2.jpeg"/><Relationship Id="rId5" Type="http://schemas.openxmlformats.org/officeDocument/2006/relationships/slide" Target="slide2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ilmweb.pl/ranking/film/country/53" TargetMode="External"/><Relationship Id="rId5" Type="http://schemas.openxmlformats.org/officeDocument/2006/relationships/hyperlink" Target="https://www.filmweb.pl/person/Mark+Boal-686668" TargetMode="External"/><Relationship Id="rId4" Type="http://schemas.openxmlformats.org/officeDocument/2006/relationships/hyperlink" Target="https://www.filmweb.pl/person/Kathryn+Bigelow-11452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ilmweb.pl/person/Morgan+Freeman-176" TargetMode="External"/><Relationship Id="rId13" Type="http://schemas.openxmlformats.org/officeDocument/2006/relationships/hyperlink" Target="https://www.filmweb.pl/film/W+chmurach-2009-475937" TargetMode="External"/><Relationship Id="rId18" Type="http://schemas.openxmlformats.org/officeDocument/2006/relationships/hyperlink" Target="https://www.filmweb.pl/person/Quentin+Tarantino-111" TargetMode="External"/><Relationship Id="rId26" Type="http://schemas.openxmlformats.org/officeDocument/2006/relationships/hyperlink" Target="https://www.filmweb.pl/film/Powa%C5%BCny+cz%C5%82owiek-2009-489730" TargetMode="External"/><Relationship Id="rId3" Type="http://schemas.openxmlformats.org/officeDocument/2006/relationships/image" Target="../media/image5.jpeg"/><Relationship Id="rId21" Type="http://schemas.openxmlformats.org/officeDocument/2006/relationships/hyperlink" Target="https://www.filmweb.pl/film/Avatar-2009-299113" TargetMode="External"/><Relationship Id="rId7" Type="http://schemas.openxmlformats.org/officeDocument/2006/relationships/hyperlink" Target="https://www.filmweb.pl/film/The+Hurt+Locker.+W+pu%C5%82apce+wojny-2008-416984" TargetMode="External"/><Relationship Id="rId12" Type="http://schemas.openxmlformats.org/officeDocument/2006/relationships/hyperlink" Target="https://www.filmweb.pl/person/George+Clooney-150" TargetMode="External"/><Relationship Id="rId17" Type="http://schemas.openxmlformats.org/officeDocument/2006/relationships/image" Target="../media/image11.jpeg"/><Relationship Id="rId25" Type="http://schemas.openxmlformats.org/officeDocument/2006/relationships/hyperlink" Target="https://www.filmweb.pl/film/Wielki+Mike.+The+Blind+Side-2009-394398" TargetMode="External"/><Relationship Id="rId2" Type="http://schemas.openxmlformats.org/officeDocument/2006/relationships/image" Target="../media/image4.jpeg"/><Relationship Id="rId16" Type="http://schemas.openxmlformats.org/officeDocument/2006/relationships/image" Target="../media/image10.jpeg"/><Relationship Id="rId20" Type="http://schemas.openxmlformats.org/officeDocument/2006/relationships/hyperlink" Target="https://www.filmweb.pl/person/James+Cameron-16" TargetMode="Externa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ilmweb.pl/person/Jeremy+Renner-68714" TargetMode="External"/><Relationship Id="rId11" Type="http://schemas.openxmlformats.org/officeDocument/2006/relationships/hyperlink" Target="https://www.filmweb.pl/film/Samotny+m%C4%99%C5%BCczyzna-2009-493189" TargetMode="External"/><Relationship Id="rId24" Type="http://schemas.openxmlformats.org/officeDocument/2006/relationships/hyperlink" Target="https://www.filmweb.pl/person/Jason+Reitman-269163" TargetMode="External"/><Relationship Id="rId5" Type="http://schemas.openxmlformats.org/officeDocument/2006/relationships/image" Target="../media/image7.jpeg"/><Relationship Id="rId15" Type="http://schemas.openxmlformats.org/officeDocument/2006/relationships/image" Target="../media/image9.jpeg"/><Relationship Id="rId23" Type="http://schemas.openxmlformats.org/officeDocument/2006/relationships/hyperlink" Target="https://www.filmweb.pl/film/Hej%2C+Skarbie-2009-503736" TargetMode="External"/><Relationship Id="rId28" Type="http://schemas.openxmlformats.org/officeDocument/2006/relationships/image" Target="../media/image13.png"/><Relationship Id="rId10" Type="http://schemas.openxmlformats.org/officeDocument/2006/relationships/hyperlink" Target="https://www.filmweb.pl/person/Colin+Firth-2568" TargetMode="External"/><Relationship Id="rId19" Type="http://schemas.openxmlformats.org/officeDocument/2006/relationships/hyperlink" Target="https://www.filmweb.pl/film/B%C4%99karty+wojny-2009-137747" TargetMode="External"/><Relationship Id="rId4" Type="http://schemas.openxmlformats.org/officeDocument/2006/relationships/image" Target="../media/image6.jpeg"/><Relationship Id="rId9" Type="http://schemas.openxmlformats.org/officeDocument/2006/relationships/hyperlink" Target="https://www.filmweb.pl/film/Invictus+Niepokonany-2009-443101" TargetMode="External"/><Relationship Id="rId14" Type="http://schemas.openxmlformats.org/officeDocument/2006/relationships/image" Target="../media/image8.jpeg"/><Relationship Id="rId22" Type="http://schemas.openxmlformats.org/officeDocument/2006/relationships/hyperlink" Target="https://www.filmweb.pl/person/Lee+Daniels-173696" TargetMode="External"/><Relationship Id="rId27" Type="http://schemas.openxmlformats.org/officeDocument/2006/relationships/image" Target="../media/image12.png"/><Relationship Id="rId30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BD1CC2F-36D0-ABCD-C950-3031C79BDC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Oscary 2010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8164632-0FF0-EDE3-FFE2-68F600D499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Piotr Nowakiewicz</a:t>
            </a:r>
          </a:p>
        </p:txBody>
      </p:sp>
    </p:spTree>
    <p:extLst>
      <p:ext uri="{BB962C8B-B14F-4D97-AF65-F5344CB8AC3E}">
        <p14:creationId xmlns:p14="http://schemas.microsoft.com/office/powerpoint/2010/main" val="1573287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B804CC-D78E-AE66-61CC-BEB0B4783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Spis Slajdów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2937287-F6AD-EE4D-99FA-9358DF1FE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3188813" cy="374064"/>
          </a:xfrm>
        </p:spPr>
        <p:txBody>
          <a:bodyPr/>
          <a:lstStyle/>
          <a:p>
            <a:r>
              <a:rPr lang="pl-PL" dirty="0">
                <a:hlinkClick r:id="rId2" action="ppaction://hlinksldjump"/>
              </a:rPr>
              <a:t>1. Informacje o Oscarach</a:t>
            </a:r>
          </a:p>
        </p:txBody>
      </p:sp>
      <p:sp>
        <p:nvSpPr>
          <p:cNvPr id="6" name="Symbol zastępczy zawartości 2">
            <a:hlinkClick r:id="rId3" action="ppaction://hlinksldjump"/>
            <a:extLst>
              <a:ext uri="{FF2B5EF4-FFF2-40B4-BE49-F238E27FC236}">
                <a16:creationId xmlns:a16="http://schemas.microsoft.com/office/drawing/2014/main" id="{B12495F6-1748-9F39-0145-761545943929}"/>
              </a:ext>
            </a:extLst>
          </p:cNvPr>
          <p:cNvSpPr txBox="1">
            <a:spLocks/>
          </p:cNvSpPr>
          <p:nvPr/>
        </p:nvSpPr>
        <p:spPr>
          <a:xfrm>
            <a:off x="677334" y="2511218"/>
            <a:ext cx="2964224" cy="374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>
                <a:hlinkClick r:id="rId4" action="ppaction://hlinksldjump"/>
              </a:rPr>
              <a:t>2. Zwycięscy Oscara</a:t>
            </a:r>
            <a:endParaRPr lang="pl-PL" dirty="0">
              <a:hlinkClick r:id="rId2" action="ppaction://hlinksldjump"/>
            </a:endParaRPr>
          </a:p>
        </p:txBody>
      </p:sp>
      <p:sp>
        <p:nvSpPr>
          <p:cNvPr id="7" name="Symbol zastępczy zawartości 2">
            <a:hlinkClick r:id="rId3" action="ppaction://hlinksldjump"/>
            <a:extLst>
              <a:ext uri="{FF2B5EF4-FFF2-40B4-BE49-F238E27FC236}">
                <a16:creationId xmlns:a16="http://schemas.microsoft.com/office/drawing/2014/main" id="{DC1465B2-36F0-A8EB-A402-4C72BDD5259B}"/>
              </a:ext>
            </a:extLst>
          </p:cNvPr>
          <p:cNvSpPr txBox="1">
            <a:spLocks/>
          </p:cNvSpPr>
          <p:nvPr/>
        </p:nvSpPr>
        <p:spPr>
          <a:xfrm>
            <a:off x="677333" y="3112545"/>
            <a:ext cx="3188813" cy="72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>
                <a:hlinkClick r:id="rId3" action="ppaction://hlinksldjump"/>
              </a:rPr>
              <a:t>3. Informacje o najlepszym filmie</a:t>
            </a:r>
            <a:endParaRPr lang="pl-PL" dirty="0">
              <a:hlinkClick r:id="rId2" action="ppaction://hlinksldjump"/>
            </a:endParaRPr>
          </a:p>
        </p:txBody>
      </p:sp>
      <p:sp>
        <p:nvSpPr>
          <p:cNvPr id="8" name="Symbol zastępczy zawartości 2">
            <a:hlinkClick r:id="rId5" action="ppaction://hlinksldjump"/>
            <a:extLst>
              <a:ext uri="{FF2B5EF4-FFF2-40B4-BE49-F238E27FC236}">
                <a16:creationId xmlns:a16="http://schemas.microsoft.com/office/drawing/2014/main" id="{FAE2F0F4-2E5D-7E25-551A-56F2C4322E86}"/>
              </a:ext>
            </a:extLst>
          </p:cNvPr>
          <p:cNvSpPr txBox="1">
            <a:spLocks/>
          </p:cNvSpPr>
          <p:nvPr/>
        </p:nvSpPr>
        <p:spPr>
          <a:xfrm>
            <a:off x="677333" y="4061326"/>
            <a:ext cx="3188813" cy="374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>
                <a:hlinkClick r:id="rId5" action="ppaction://hlinksldjump"/>
              </a:rPr>
              <a:t>Szyguły wydania najlepszego filmu</a:t>
            </a:r>
            <a:endParaRPr lang="pl-PL" dirty="0">
              <a:hlinkClick r:id="rId2" action="ppaction://hlinksldjump"/>
            </a:endParaRPr>
          </a:p>
        </p:txBody>
      </p:sp>
    </p:spTree>
    <p:extLst>
      <p:ext uri="{BB962C8B-B14F-4D97-AF65-F5344CB8AC3E}">
        <p14:creationId xmlns:p14="http://schemas.microsoft.com/office/powerpoint/2010/main" val="26540653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C8B9A9A-4FEB-560B-648A-760200B3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Informacje o Oscarach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BFC61A4-6BD7-1AC4-EE36-C47C823FB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60" y="1270000"/>
            <a:ext cx="11707171" cy="3880773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pl-PL" sz="1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Informacje</a:t>
            </a:r>
            <a:endParaRPr lang="pl-PL" sz="14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Nagrody Akademii Filmowej, znane powszechnie pod nazwą </a:t>
            </a:r>
            <a:r>
              <a:rPr lang="pl-PL" sz="1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Oscary</a:t>
            </a:r>
            <a: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zostały stworzone w 1927 roku (pierwsze przyznanie nagród, za rok 1927 i 1928, nastąpiło 16 maja 1929 roku). Od lat są uznawane za najbardziej prestiżową nagrodę filmową. </a:t>
            </a:r>
            <a:b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Pierwsze </a:t>
            </a:r>
            <a:r>
              <a:rPr lang="pl-PL" sz="1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Oscary</a:t>
            </a:r>
            <a: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zostały przyznane w 13 kategoriach. Dziś jest ich 24, między innymi: najlepszy film, reżyseria, aktor, aktorka, zdjęcia, muzyka, scenariusz oryginalny i scenariusz adaptowany. Od 2002 roku ceremonia rozdania nagród odbywa się w hollywoodzkim Kodak </a:t>
            </a:r>
            <a:r>
              <a:rPr lang="pl-PL" sz="14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Theatre</a:t>
            </a:r>
            <a: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Początkowo wręczenie nagród Akademii odbywało się na przełomie marca i kwietnia. W 2004 roku galę przesunięto na ostatni tydzień lutego. </a:t>
            </a:r>
            <a:b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Laureatów </a:t>
            </a:r>
            <a:r>
              <a:rPr lang="pl-PL" sz="1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Oscarów</a:t>
            </a:r>
            <a: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wybierają członkowie Amerykańskiej Akademii Filmowej zrzeszającej amerykańskich filmowców różnych profesji (obecnie udział w głosowaniu bierze ok. 6000 osób). Nominacje mogą otrzymać filmy, które w poprzedzającym rozdanie nagród roku kalendarzowym były wyświetlane w jednym z kin Los Angeles. </a:t>
            </a:r>
            <a:b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Statuetka, o której marzą filmowcy na całym świecie, jest wykonana z brązu i pokryta warstwą 24-karatowego złota. Przedstawia nagiego rycerza trzymającego miecz i stojącego na cokole zwieńczonym rolką taśmy filmowej z pięcioma klatkami. Klatki symbolizują pierwotne branże Akademii: Aktorów, Scenarzystów, Reżyserów, Producentów i Techników. </a:t>
            </a:r>
            <a:b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Akademicy wielokrotnie byli narażeni na krytykę: zlekceważyli niejeden wybitny film przyznając w zamian nagrodę takiemu, o którym dziś pamiętają jedynie historycy filmu. Mimo tego żadna inna nagroda nie wzbudza tak wielkiego zainteresowania branży filmowej i publiczności na całym świecie.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pl-PL" sz="1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Przyznawane nagrody</a:t>
            </a:r>
            <a:endParaRPr lang="pl-PL" sz="14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pl-PL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Oscar, Oscar Specjalny, Nagroda Specjalna</a:t>
            </a:r>
          </a:p>
          <a:p>
            <a:endParaRPr lang="pl-PL" sz="1400" dirty="0"/>
          </a:p>
        </p:txBody>
      </p:sp>
      <p:sp>
        <p:nvSpPr>
          <p:cNvPr id="4" name="Strzałka: prążkowana w prawo 3">
            <a:hlinkClick r:id="rId2" action="ppaction://hlinksldjump"/>
            <a:extLst>
              <a:ext uri="{FF2B5EF4-FFF2-40B4-BE49-F238E27FC236}">
                <a16:creationId xmlns:a16="http://schemas.microsoft.com/office/drawing/2014/main" id="{7C10F625-B822-87B5-97FB-62655A7BE0E5}"/>
              </a:ext>
            </a:extLst>
          </p:cNvPr>
          <p:cNvSpPr/>
          <p:nvPr/>
        </p:nvSpPr>
        <p:spPr>
          <a:xfrm flipH="1">
            <a:off x="10700083" y="317916"/>
            <a:ext cx="994612" cy="952084"/>
          </a:xfrm>
          <a:prstGeom prst="stripedRightArrow">
            <a:avLst>
              <a:gd name="adj1" fmla="val 47183"/>
              <a:gd name="adj2" fmla="val 711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376380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C8B9A9A-4FEB-560B-648A-760200B31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201" y="609600"/>
            <a:ext cx="8596668" cy="1320800"/>
          </a:xfrm>
        </p:spPr>
        <p:txBody>
          <a:bodyPr/>
          <a:lstStyle/>
          <a:p>
            <a:r>
              <a:rPr lang="pl-PL" dirty="0"/>
              <a:t>Zwycięscy Oscara</a:t>
            </a:r>
            <a:endParaRPr lang="pl-PL" dirty="0">
              <a:hlinkClick r:id="rId3" action="ppaction://hlinksldjump"/>
            </a:endParaRPr>
          </a:p>
        </p:txBody>
      </p:sp>
      <p:pic>
        <p:nvPicPr>
          <p:cNvPr id="6" name="Multimedia online 5" title="The Hurt Locker (2008) Official Trailer - Jeremy Renner, Anthony Mackie Movie HD">
            <a:hlinkClick r:id="" action="ppaction://media"/>
            <a:extLst>
              <a:ext uri="{FF2B5EF4-FFF2-40B4-BE49-F238E27FC236}">
                <a16:creationId xmlns:a16="http://schemas.microsoft.com/office/drawing/2014/main" id="{EA7ABFD7-DA14-245C-393F-AE1D84A79C6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7459579" y="4062197"/>
            <a:ext cx="4385201" cy="2477887"/>
          </a:xfrm>
          <a:prstGeom prst="rect">
            <a:avLst/>
          </a:prstGeom>
        </p:spPr>
      </p:pic>
      <p:sp>
        <p:nvSpPr>
          <p:cNvPr id="4" name="Strzałka: prążkowana w prawo 3">
            <a:hlinkClick r:id="rId5" action="ppaction://hlinksldjump"/>
            <a:extLst>
              <a:ext uri="{FF2B5EF4-FFF2-40B4-BE49-F238E27FC236}">
                <a16:creationId xmlns:a16="http://schemas.microsoft.com/office/drawing/2014/main" id="{7C10F625-B822-87B5-97FB-62655A7BE0E5}"/>
              </a:ext>
            </a:extLst>
          </p:cNvPr>
          <p:cNvSpPr/>
          <p:nvPr/>
        </p:nvSpPr>
        <p:spPr>
          <a:xfrm flipH="1">
            <a:off x="10700083" y="317916"/>
            <a:ext cx="994612" cy="952084"/>
          </a:xfrm>
          <a:prstGeom prst="stripedRightArrow">
            <a:avLst>
              <a:gd name="adj1" fmla="val 47183"/>
              <a:gd name="adj2" fmla="val 711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BF200FBF-FEF8-E0AF-8C22-BF2A09DEEB94}"/>
              </a:ext>
            </a:extLst>
          </p:cNvPr>
          <p:cNvSpPr txBox="1"/>
          <p:nvPr/>
        </p:nvSpPr>
        <p:spPr>
          <a:xfrm>
            <a:off x="764201" y="1930400"/>
            <a:ext cx="6583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pl-PL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Film: The Hurt </a:t>
            </a:r>
            <a:r>
              <a:rPr lang="pl-PL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Locker</a:t>
            </a:r>
            <a:r>
              <a:rPr lang="pl-PL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W pułapce wojny</a:t>
            </a:r>
          </a:p>
          <a:p>
            <a:pPr marL="285750" indent="-285750"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pl-PL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Aktor: Jeff Bridges (Szalone Serce)</a:t>
            </a:r>
          </a:p>
          <a:p>
            <a:pPr marL="285750" indent="-285750"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pl-PL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Reżyser: </a:t>
            </a:r>
            <a:r>
              <a:rPr lang="pl-PL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Kathryn</a:t>
            </a:r>
            <a:r>
              <a:rPr lang="pl-PL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Bigelow</a:t>
            </a:r>
            <a:r>
              <a:rPr lang="pl-PL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(The Hurt </a:t>
            </a:r>
            <a:r>
              <a:rPr lang="pl-PL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Locker</a:t>
            </a:r>
            <a:r>
              <a:rPr lang="pl-PL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W pułapce wojny)</a:t>
            </a:r>
            <a:endParaRPr lang="pl-PL" sz="18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raz 7" descr="Kathryn Bigelow">
            <a:extLst>
              <a:ext uri="{FF2B5EF4-FFF2-40B4-BE49-F238E27FC236}">
                <a16:creationId xmlns:a16="http://schemas.microsoft.com/office/drawing/2014/main" id="{6727CA5E-CE46-76E6-E8CC-A32EB50978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0891" y="4075043"/>
            <a:ext cx="1725529" cy="2465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Obraz 8" descr="Jeff Bridges">
            <a:extLst>
              <a:ext uri="{FF2B5EF4-FFF2-40B4-BE49-F238E27FC236}">
                <a16:creationId xmlns:a16="http://schemas.microsoft.com/office/drawing/2014/main" id="{828A2BD0-1AD8-F868-1F39-B4A9E3AC6B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96" y="4075043"/>
            <a:ext cx="2465041" cy="246504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2DF14332-C5CC-9F1A-A9DF-A183901B2D74}"/>
              </a:ext>
            </a:extLst>
          </p:cNvPr>
          <p:cNvSpPr txBox="1"/>
          <p:nvPr/>
        </p:nvSpPr>
        <p:spPr>
          <a:xfrm>
            <a:off x="570496" y="3721768"/>
            <a:ext cx="2465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/>
              <a:t>Jeff Bridges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07CAE47D-7D90-C2DB-1598-EE8EA9C357C1}"/>
              </a:ext>
            </a:extLst>
          </p:cNvPr>
          <p:cNvSpPr txBox="1"/>
          <p:nvPr/>
        </p:nvSpPr>
        <p:spPr>
          <a:xfrm>
            <a:off x="4530890" y="3394477"/>
            <a:ext cx="1725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Kathryn</a:t>
            </a:r>
            <a:r>
              <a:rPr lang="pl-PL" dirty="0"/>
              <a:t> </a:t>
            </a:r>
            <a:r>
              <a:rPr lang="pl-PL" dirty="0" err="1"/>
              <a:t>Bigelow</a:t>
            </a:r>
            <a:endParaRPr lang="pl-PL" dirty="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D49FC574-12F9-97A7-960B-48037EF9FD28}"/>
              </a:ext>
            </a:extLst>
          </p:cNvPr>
          <p:cNvSpPr txBox="1"/>
          <p:nvPr/>
        </p:nvSpPr>
        <p:spPr>
          <a:xfrm>
            <a:off x="7459579" y="3671476"/>
            <a:ext cx="2999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Zwiastun Filmu:</a:t>
            </a:r>
          </a:p>
        </p:txBody>
      </p:sp>
    </p:spTree>
    <p:extLst>
      <p:ext uri="{BB962C8B-B14F-4D97-AF65-F5344CB8AC3E}">
        <p14:creationId xmlns:p14="http://schemas.microsoft.com/office/powerpoint/2010/main" val="39287483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C8B9A9A-4FEB-560B-648A-760200B3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Informacje o najlepszym filmie</a:t>
            </a:r>
            <a:endParaRPr lang="pl-PL" dirty="0">
              <a:hlinkClick r:id="rId2" action="ppaction://hlinksldjump"/>
            </a:endParaRPr>
          </a:p>
        </p:txBody>
      </p:sp>
      <p:sp>
        <p:nvSpPr>
          <p:cNvPr id="4" name="Strzałka: prążkowana w prawo 3">
            <a:hlinkClick r:id="rId3" action="ppaction://hlinksldjump"/>
            <a:extLst>
              <a:ext uri="{FF2B5EF4-FFF2-40B4-BE49-F238E27FC236}">
                <a16:creationId xmlns:a16="http://schemas.microsoft.com/office/drawing/2014/main" id="{7C10F625-B822-87B5-97FB-62655A7BE0E5}"/>
              </a:ext>
            </a:extLst>
          </p:cNvPr>
          <p:cNvSpPr/>
          <p:nvPr/>
        </p:nvSpPr>
        <p:spPr>
          <a:xfrm flipH="1">
            <a:off x="10700083" y="317916"/>
            <a:ext cx="994612" cy="952084"/>
          </a:xfrm>
          <a:prstGeom prst="stripedRightArrow">
            <a:avLst>
              <a:gd name="adj1" fmla="val 47183"/>
              <a:gd name="adj2" fmla="val 711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E937ACD-5982-8FCE-B96F-F0BDFFAA3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1651713"/>
            <a:ext cx="9914021" cy="2867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50784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Zarys fabuły: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Elitarna jednostka saperów odbywa misję w Iraku. Nigdy nie wiadomo, kto okaże się wrogiem i gdzie ukryta jest kolejna bomba.</a:t>
            </a:r>
            <a:endParaRPr kumimoji="0" lang="pl-PL" altLang="pl-P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Opis filmu The Hurt </a:t>
            </a:r>
            <a:r>
              <a:rPr kumimoji="0" lang="pl-PL" altLang="pl-PL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Locker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W pułapce wojny: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Akcja filmu dzieje się w Iraku i opowiada o dokonaniach elitarnej jednostki saperów. Zmuszeni do niebezpiecznej gry w kotka myszkę w zamęcie wojny, łączą swoje siły, gdyż w miejscu, w którym </a:t>
            </a:r>
            <a:r>
              <a:rPr kumimoji="0" lang="pl-PL" altLang="pl-PL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sie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znajdują każdy człowiek może się okazać potencjalnym wrogiem, a każdy obiekt - śmiertelną bombą.</a:t>
            </a:r>
            <a:endParaRPr kumimoji="0" lang="pl-PL" altLang="pl-P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8750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C8B9A9A-4FEB-560B-648A-760200B3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Szegóły</a:t>
            </a:r>
            <a:r>
              <a:rPr lang="pl-PL" dirty="0"/>
              <a:t> wydania najlepszego filmu</a:t>
            </a:r>
            <a:endParaRPr lang="pl-PL" dirty="0">
              <a:hlinkClick r:id="rId2" action="ppaction://hlinksldjump"/>
            </a:endParaRPr>
          </a:p>
        </p:txBody>
      </p:sp>
      <p:sp>
        <p:nvSpPr>
          <p:cNvPr id="4" name="Strzałka: prążkowana w prawo 3">
            <a:hlinkClick r:id="rId3" action="ppaction://hlinksldjump"/>
            <a:extLst>
              <a:ext uri="{FF2B5EF4-FFF2-40B4-BE49-F238E27FC236}">
                <a16:creationId xmlns:a16="http://schemas.microsoft.com/office/drawing/2014/main" id="{7C10F625-B822-87B5-97FB-62655A7BE0E5}"/>
              </a:ext>
            </a:extLst>
          </p:cNvPr>
          <p:cNvSpPr/>
          <p:nvPr/>
        </p:nvSpPr>
        <p:spPr>
          <a:xfrm flipH="1">
            <a:off x="10700083" y="317916"/>
            <a:ext cx="994612" cy="952084"/>
          </a:xfrm>
          <a:prstGeom prst="stripedRightArrow">
            <a:avLst>
              <a:gd name="adj1" fmla="val 47183"/>
              <a:gd name="adj2" fmla="val 711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3EA06EF-3030-AC6B-E02D-12CF061C1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076272"/>
              </p:ext>
            </p:extLst>
          </p:nvPr>
        </p:nvGraphicFramePr>
        <p:xfrm>
          <a:off x="866273" y="1620254"/>
          <a:ext cx="6866021" cy="4346891"/>
        </p:xfrm>
        <a:graphic>
          <a:graphicData uri="http://schemas.openxmlformats.org/drawingml/2006/table">
            <a:tbl>
              <a:tblPr firstRow="1" firstCol="1" bandRow="1"/>
              <a:tblGrid>
                <a:gridCol w="1652338">
                  <a:extLst>
                    <a:ext uri="{9D8B030D-6E8A-4147-A177-3AD203B41FA5}">
                      <a16:colId xmlns:a16="http://schemas.microsoft.com/office/drawing/2014/main" val="319573564"/>
                    </a:ext>
                  </a:extLst>
                </a:gridCol>
                <a:gridCol w="5213683">
                  <a:extLst>
                    <a:ext uri="{9D8B030D-6E8A-4147-A177-3AD203B41FA5}">
                      <a16:colId xmlns:a16="http://schemas.microsoft.com/office/drawing/2014/main" val="1289915290"/>
                    </a:ext>
                  </a:extLst>
                </a:gridCol>
              </a:tblGrid>
              <a:tr h="1102626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pl-PL" sz="200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Reżyser: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pl-PL" sz="2000" b="1" u="sng">
                          <a:solidFill>
                            <a:srgbClr val="467886"/>
                          </a:solidFill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4" tooltip="Kathryn Bigelow"/>
                        </a:rPr>
                        <a:t>Kathryn Bigelow</a:t>
                      </a:r>
                      <a:endParaRPr lang="pl-PL" sz="2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790589"/>
                  </a:ext>
                </a:extLst>
              </a:tr>
              <a:tr h="1102626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pl-PL" sz="200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Scernariusz: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pl-PL" sz="2000" b="1" u="sng">
                          <a:solidFill>
                            <a:srgbClr val="467886"/>
                          </a:solidFill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5" tooltip="Mark Boal"/>
                        </a:rPr>
                        <a:t>Mark Boal</a:t>
                      </a:r>
                      <a:r>
                        <a:rPr lang="pl-PL" sz="2000" b="1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pl-PL" sz="2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075122"/>
                  </a:ext>
                </a:extLst>
              </a:tr>
              <a:tr h="1039013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pl-PL" sz="200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Produkacja: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pl-PL" sz="2000" b="1" u="sng">
                          <a:solidFill>
                            <a:srgbClr val="467886"/>
                          </a:solidFill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USA</a:t>
                      </a:r>
                      <a:endParaRPr lang="pl-PL" sz="2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235814"/>
                  </a:ext>
                </a:extLst>
              </a:tr>
              <a:tr h="1102626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pl-PL" sz="200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Premiera: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pl-PL" sz="2000" b="1" dirty="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 marca 2010</a:t>
                      </a:r>
                      <a:endParaRPr lang="pl-PL" sz="20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789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84768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7" name="Obraz 30" descr="Jeremy Renner">
            <a:extLst>
              <a:ext uri="{FF2B5EF4-FFF2-40B4-BE49-F238E27FC236}">
                <a16:creationId xmlns:a16="http://schemas.microsoft.com/office/drawing/2014/main" id="{1D87D161-5A8A-7B7C-3607-9F4CC899F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05" y="1266281"/>
            <a:ext cx="1051063" cy="105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Obraz 29" descr="Morgan Freeman">
            <a:extLst>
              <a:ext uri="{FF2B5EF4-FFF2-40B4-BE49-F238E27FC236}">
                <a16:creationId xmlns:a16="http://schemas.microsoft.com/office/drawing/2014/main" id="{A4C990D5-3523-03FD-AE71-A926AFB3A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05" y="2663831"/>
            <a:ext cx="1051063" cy="105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Obraz 28" descr="Colin Firth">
            <a:extLst>
              <a:ext uri="{FF2B5EF4-FFF2-40B4-BE49-F238E27FC236}">
                <a16:creationId xmlns:a16="http://schemas.microsoft.com/office/drawing/2014/main" id="{42D31A14-08ED-8C8D-2179-D0D30A4D1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04" y="4061381"/>
            <a:ext cx="1051063" cy="105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Obraz 27" descr="George Clooney">
            <a:extLst>
              <a:ext uri="{FF2B5EF4-FFF2-40B4-BE49-F238E27FC236}">
                <a16:creationId xmlns:a16="http://schemas.microsoft.com/office/drawing/2014/main" id="{FBB1A79A-A9F6-4453-30BF-050BA6AB7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03" y="5458931"/>
            <a:ext cx="1051063" cy="105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5">
            <a:hlinkClick r:id="rId6"/>
            <a:extLst>
              <a:ext uri="{FF2B5EF4-FFF2-40B4-BE49-F238E27FC236}">
                <a16:creationId xmlns:a16="http://schemas.microsoft.com/office/drawing/2014/main" id="{32B7122A-B32F-56BF-C457-3CE5901E8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994" y="1266281"/>
            <a:ext cx="7474226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Jeremy Renner</a:t>
            </a:r>
            <a:endParaRPr kumimoji="0" lang="pl-PL" altLang="pl-PL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The Hurt Locker. W pułapce wojny</a:t>
            </a:r>
            <a:endParaRPr kumimoji="0" lang="pl-PL" altLang="pl-PL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6">
            <a:hlinkClick r:id="rId8"/>
            <a:extLst>
              <a:ext uri="{FF2B5EF4-FFF2-40B4-BE49-F238E27FC236}">
                <a16:creationId xmlns:a16="http://schemas.microsoft.com/office/drawing/2014/main" id="{B9AB38EE-3A43-1A71-9555-15A7B7CE2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994" y="2663831"/>
            <a:ext cx="1439519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Morgan Freeman</a:t>
            </a:r>
            <a:endParaRPr kumimoji="0" lang="pl-PL" altLang="pl-PL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Invictus - Niepokonany</a:t>
            </a:r>
            <a:endParaRPr kumimoji="0" lang="pl-PL" altLang="pl-PL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7">
            <a:hlinkClick r:id="rId10"/>
            <a:extLst>
              <a:ext uri="{FF2B5EF4-FFF2-40B4-BE49-F238E27FC236}">
                <a16:creationId xmlns:a16="http://schemas.microsoft.com/office/drawing/2014/main" id="{2C4C4836-8F79-50DF-A0DB-D834F9C67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246" y="4266364"/>
            <a:ext cx="157204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Colin Firth</a:t>
            </a:r>
            <a:endParaRPr kumimoji="0" lang="pl-PL" altLang="pl-PL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Samotny mężczyzna</a:t>
            </a:r>
            <a:endParaRPr kumimoji="0" lang="pl-PL" altLang="pl-PL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8">
            <a:hlinkClick r:id="rId12"/>
            <a:extLst>
              <a:ext uri="{FF2B5EF4-FFF2-40B4-BE49-F238E27FC236}">
                <a16:creationId xmlns:a16="http://schemas.microsoft.com/office/drawing/2014/main" id="{2B440780-6A4F-6EB6-6FAE-858D9CC7C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246" y="5663914"/>
            <a:ext cx="38033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George Clooney</a:t>
            </a:r>
            <a:endParaRPr kumimoji="0" lang="pl-PL" altLang="pl-PL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13"/>
              </a:rPr>
              <a:t>W chmurach</a:t>
            </a:r>
            <a:endParaRPr kumimoji="0" lang="pl-PL" altLang="pl-P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3C7F62F1-4F12-7B3D-9D8B-D7749BC1662C}"/>
              </a:ext>
            </a:extLst>
          </p:cNvPr>
          <p:cNvSpPr txBox="1"/>
          <p:nvPr/>
        </p:nvSpPr>
        <p:spPr>
          <a:xfrm>
            <a:off x="5141843" y="156190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Nominowani: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E3511539-A1D3-7F0B-871A-A8D0230E7AF3}"/>
              </a:ext>
            </a:extLst>
          </p:cNvPr>
          <p:cNvSpPr txBox="1"/>
          <p:nvPr/>
        </p:nvSpPr>
        <p:spPr>
          <a:xfrm>
            <a:off x="477903" y="723706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Aktorzy: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639F061F-DBEB-DCCD-B944-34A595C9F97D}"/>
              </a:ext>
            </a:extLst>
          </p:cNvPr>
          <p:cNvSpPr txBox="1"/>
          <p:nvPr/>
        </p:nvSpPr>
        <p:spPr>
          <a:xfrm>
            <a:off x="5383896" y="757435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reżyserzy: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EE7B8B13-C92C-DD68-FA1E-CDE57410C48E}"/>
              </a:ext>
            </a:extLst>
          </p:cNvPr>
          <p:cNvSpPr txBox="1"/>
          <p:nvPr/>
        </p:nvSpPr>
        <p:spPr>
          <a:xfrm>
            <a:off x="9616307" y="798707"/>
            <a:ext cx="887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Filmy:</a:t>
            </a:r>
          </a:p>
        </p:txBody>
      </p:sp>
      <p:pic>
        <p:nvPicPr>
          <p:cNvPr id="1057" name="Obraz 10" descr="Quentin Tarantino">
            <a:extLst>
              <a:ext uri="{FF2B5EF4-FFF2-40B4-BE49-F238E27FC236}">
                <a16:creationId xmlns:a16="http://schemas.microsoft.com/office/drawing/2014/main" id="{CD0541ED-8581-D827-4C0B-5B498C16A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314" y="1266281"/>
            <a:ext cx="986327" cy="986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Obraz 9" descr="James Cameron">
            <a:extLst>
              <a:ext uri="{FF2B5EF4-FFF2-40B4-BE49-F238E27FC236}">
                <a16:creationId xmlns:a16="http://schemas.microsoft.com/office/drawing/2014/main" id="{4659C313-E777-EF10-30B1-5055AC7C5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315" y="2560711"/>
            <a:ext cx="986327" cy="986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Obraz 8" descr="Lee Daniels">
            <a:extLst>
              <a:ext uri="{FF2B5EF4-FFF2-40B4-BE49-F238E27FC236}">
                <a16:creationId xmlns:a16="http://schemas.microsoft.com/office/drawing/2014/main" id="{85E1ADC6-A01D-5910-B17D-E993D5028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316" y="3958261"/>
            <a:ext cx="986327" cy="986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Obraz 7" descr="Jason Reitman">
            <a:extLst>
              <a:ext uri="{FF2B5EF4-FFF2-40B4-BE49-F238E27FC236}">
                <a16:creationId xmlns:a16="http://schemas.microsoft.com/office/drawing/2014/main" id="{80771F76-40CD-953E-0359-5939C481C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315" y="5319803"/>
            <a:ext cx="986327" cy="986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35">
            <a:extLst>
              <a:ext uri="{FF2B5EF4-FFF2-40B4-BE49-F238E27FC236}">
                <a16:creationId xmlns:a16="http://schemas.microsoft.com/office/drawing/2014/main" id="{FD2C88A1-2D50-D054-4FDF-CA96FA6C53A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24145" y="341890"/>
            <a:ext cx="6979248" cy="4770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l-PL"/>
          </a:p>
        </p:txBody>
      </p:sp>
      <p:sp>
        <p:nvSpPr>
          <p:cNvPr id="26" name="Rectangle 37">
            <a:hlinkClick r:id="rId18"/>
            <a:extLst>
              <a:ext uri="{FF2B5EF4-FFF2-40B4-BE49-F238E27FC236}">
                <a16:creationId xmlns:a16="http://schemas.microsoft.com/office/drawing/2014/main" id="{C932895B-40F5-AA1F-52E2-166034DE3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2667" y="1322907"/>
            <a:ext cx="11540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0" i="0" u="sng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18"/>
              </a:rPr>
              <a:t>Quentin Tarantino</a:t>
            </a:r>
            <a:endParaRPr kumimoji="0" lang="pl-PL" altLang="pl-P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19"/>
              </a:rPr>
              <a:t>Bękarty wojny</a:t>
            </a:r>
            <a:endParaRPr kumimoji="0" lang="pl-PL" altLang="pl-P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38">
            <a:hlinkClick r:id="rId20"/>
            <a:extLst>
              <a:ext uri="{FF2B5EF4-FFF2-40B4-BE49-F238E27FC236}">
                <a16:creationId xmlns:a16="http://schemas.microsoft.com/office/drawing/2014/main" id="{1F2E0EE8-EF56-3462-1F6E-F72AC1A25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3894" y="2609183"/>
            <a:ext cx="1154025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0" i="0" u="sng" strike="noStrike" cap="none" normalizeH="0" baseline="0">
                <a:ln>
                  <a:noFill/>
                </a:ln>
                <a:solidFill>
                  <a:srgbClr val="467886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0"/>
              </a:rPr>
              <a:t>James Cameron</a:t>
            </a:r>
            <a:endParaRPr kumimoji="0" lang="pl-PL" altLang="pl-PL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1"/>
              </a:rPr>
              <a:t>Avatar</a:t>
            </a:r>
            <a:endParaRPr kumimoji="0" lang="pl-PL" altLang="pl-PL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39">
            <a:hlinkClick r:id="rId22"/>
            <a:extLst>
              <a:ext uri="{FF2B5EF4-FFF2-40B4-BE49-F238E27FC236}">
                <a16:creationId xmlns:a16="http://schemas.microsoft.com/office/drawing/2014/main" id="{80DEE54C-BCE0-E0EC-4952-E356BFAA8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5107" y="4112870"/>
            <a:ext cx="1154025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0" i="0" u="sng" strike="noStrike" cap="none" normalizeH="0" baseline="0">
                <a:ln>
                  <a:noFill/>
                </a:ln>
                <a:solidFill>
                  <a:srgbClr val="467886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2"/>
              </a:rPr>
              <a:t>Lee Daniels</a:t>
            </a:r>
            <a:endParaRPr kumimoji="0" lang="pl-PL" altLang="pl-PL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3"/>
              </a:rPr>
              <a:t>Hej, Skarbie</a:t>
            </a:r>
            <a:endParaRPr kumimoji="0" lang="pl-PL" altLang="pl-PL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40">
            <a:hlinkClick r:id="rId24"/>
            <a:extLst>
              <a:ext uri="{FF2B5EF4-FFF2-40B4-BE49-F238E27FC236}">
                <a16:creationId xmlns:a16="http://schemas.microsoft.com/office/drawing/2014/main" id="{9A223724-1709-A02D-7C23-677235685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3641" y="5412856"/>
            <a:ext cx="11540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0" i="0" u="sng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4"/>
              </a:rPr>
              <a:t>Jason </a:t>
            </a:r>
            <a:r>
              <a:rPr kumimoji="0" lang="pl-PL" altLang="pl-PL" sz="1000" b="0" i="0" u="sng" strike="noStrike" cap="none" normalizeH="0" baseline="0" dirty="0" err="1">
                <a:ln>
                  <a:noFill/>
                </a:ln>
                <a:solidFill>
                  <a:srgbClr val="467886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4"/>
              </a:rPr>
              <a:t>Reitman</a:t>
            </a:r>
            <a:endParaRPr kumimoji="0" lang="pl-PL" altLang="pl-P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13"/>
              </a:rPr>
              <a:t>W chmurach</a:t>
            </a:r>
            <a:endParaRPr kumimoji="0" lang="pl-PL" altLang="pl-P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42">
            <a:extLst>
              <a:ext uri="{FF2B5EF4-FFF2-40B4-BE49-F238E27FC236}">
                <a16:creationId xmlns:a16="http://schemas.microsoft.com/office/drawing/2014/main" id="{240B10CD-502F-CCAF-740D-054D1515D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6647" y="1113113"/>
            <a:ext cx="17363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1" i="0" u="sng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5"/>
              </a:rPr>
              <a:t>Wielki Mike. The Blind </a:t>
            </a:r>
            <a:r>
              <a:rPr kumimoji="0" lang="pl-PL" altLang="pl-PL" sz="1000" b="1" i="0" u="sng" strike="noStrike" cap="none" normalizeH="0" baseline="0" dirty="0" err="1">
                <a:ln>
                  <a:noFill/>
                </a:ln>
                <a:solidFill>
                  <a:srgbClr val="467886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5"/>
              </a:rPr>
              <a:t>Side</a:t>
            </a:r>
            <a:endParaRPr kumimoji="0" lang="pl-PL" altLang="pl-P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Prostokąt 30" descr="plakat filmuPoważny człowiek">
            <a:extLst>
              <a:ext uri="{FF2B5EF4-FFF2-40B4-BE49-F238E27FC236}">
                <a16:creationId xmlns:a16="http://schemas.microsoft.com/office/drawing/2014/main" id="{109F9E62-1C4F-7EC4-F2CF-08CE72CAC6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41704" y="209032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l-PL"/>
          </a:p>
        </p:txBody>
      </p:sp>
      <p:sp>
        <p:nvSpPr>
          <p:cNvPr id="32" name="Rectangle 43">
            <a:hlinkClick r:id="rId26"/>
            <a:extLst>
              <a:ext uri="{FF2B5EF4-FFF2-40B4-BE49-F238E27FC236}">
                <a16:creationId xmlns:a16="http://schemas.microsoft.com/office/drawing/2014/main" id="{6D093702-2AF7-7647-86DF-BF1591EBD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6307" y="2816981"/>
            <a:ext cx="262958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1" i="0" u="sng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6"/>
              </a:rPr>
              <a:t>Poważny człowiek</a:t>
            </a:r>
            <a:endParaRPr kumimoji="0" lang="pl-PL" altLang="pl-PL" sz="1000" b="1" i="0" u="sng" strike="noStrike" cap="none" normalizeH="0" baseline="0" dirty="0">
              <a:ln>
                <a:noFill/>
              </a:ln>
              <a:solidFill>
                <a:srgbClr val="467886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l-PL" altLang="pl-PL" sz="800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l-PL" altLang="pl-PL" sz="800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l-PL" altLang="pl-PL" sz="800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l-PL" altLang="pl-PL" sz="800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1" i="0" u="sng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19"/>
              </a:rPr>
              <a:t>Bękarty wojny</a:t>
            </a:r>
            <a:endParaRPr kumimoji="0" lang="pl-PL" altLang="pl-P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000" b="1" i="0" u="sng" strike="noStrike" cap="none" normalizeH="0" baseline="0" dirty="0">
              <a:ln>
                <a:noFill/>
              </a:ln>
              <a:solidFill>
                <a:srgbClr val="467886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  <a:hlinkClick r:id="rId21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l-PL" altLang="pl-PL" sz="1000" b="1" u="sng" dirty="0">
              <a:solidFill>
                <a:srgbClr val="467886"/>
              </a:solidFill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  <a:hlinkClick r:id="rId21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l-PL" altLang="pl-PL" sz="1000" b="1" u="sng" dirty="0">
              <a:solidFill>
                <a:srgbClr val="467886"/>
              </a:solidFill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  <a:hlinkClick r:id="rId21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l-PL" altLang="pl-PL" sz="1000" b="1" u="sng" dirty="0">
              <a:solidFill>
                <a:srgbClr val="467886"/>
              </a:solidFill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  <a:hlinkClick r:id="rId21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l-PL" altLang="pl-PL" sz="1000" b="1" u="sng" dirty="0">
              <a:solidFill>
                <a:srgbClr val="467886"/>
              </a:solidFill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  <a:hlinkClick r:id="rId21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l-PL" altLang="pl-PL" sz="1000" b="1" u="sng" dirty="0">
              <a:solidFill>
                <a:srgbClr val="467886"/>
              </a:solidFill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  <a:hlinkClick r:id="rId21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l-PL" altLang="pl-PL" sz="1000" b="1" u="sng" dirty="0">
              <a:solidFill>
                <a:srgbClr val="467886"/>
              </a:solidFill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  <a:hlinkClick r:id="rId21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l-PL" altLang="pl-PL" sz="1000" b="1" u="sng" dirty="0">
              <a:solidFill>
                <a:srgbClr val="467886"/>
              </a:solidFill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  <a:hlinkClick r:id="rId21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000" b="1" i="0" u="sng" strike="noStrike" cap="none" normalizeH="0" baseline="0" dirty="0">
              <a:ln>
                <a:noFill/>
              </a:ln>
              <a:solidFill>
                <a:srgbClr val="467886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  <a:hlinkClick r:id="rId21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000" b="1" i="0" u="sng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1"/>
              </a:rPr>
              <a:t>Avatar</a:t>
            </a:r>
            <a:endParaRPr kumimoji="0" lang="pl-PL" altLang="pl-P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6" name="Obraz 35" descr="Obraz zawierający tekst, ubrania, uśmiech, plakat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6D03C70E-761D-807A-AC75-069C8E3E063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4679" y="1132353"/>
            <a:ext cx="731267" cy="1144592"/>
          </a:xfrm>
          <a:prstGeom prst="rect">
            <a:avLst/>
          </a:prstGeom>
        </p:spPr>
      </p:pic>
      <p:pic>
        <p:nvPicPr>
          <p:cNvPr id="38" name="Obraz 37" descr="Obraz zawierający tekst, niebo, plakat, na wolnym powietrzu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203C1D99-2094-B80D-733C-660CCE8C5C7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4679" y="2349957"/>
            <a:ext cx="731267" cy="1144592"/>
          </a:xfrm>
          <a:prstGeom prst="rect">
            <a:avLst/>
          </a:prstGeom>
        </p:spPr>
      </p:pic>
      <p:pic>
        <p:nvPicPr>
          <p:cNvPr id="41" name="Obraz 40" descr="Obraz zawierający tekst, plakat, Film akcji, fikcj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35E7A927-2FA0-25ED-4E40-4720A043AD5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600" y="3636425"/>
            <a:ext cx="982091" cy="1307047"/>
          </a:xfrm>
          <a:prstGeom prst="rect">
            <a:avLst/>
          </a:prstGeom>
        </p:spPr>
      </p:pic>
      <p:pic>
        <p:nvPicPr>
          <p:cNvPr id="43" name="Obraz 42" descr="Obraz zawierający tekst, plakat, projekt graficzny, książ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CE5C5DED-91FB-13E3-7638-5BBF88AB3C7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302" y="4931243"/>
            <a:ext cx="779644" cy="122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705931"/>
      </p:ext>
    </p:extLst>
  </p:cSld>
  <p:clrMapOvr>
    <a:masterClrMapping/>
  </p:clrMapOvr>
</p:sld>
</file>

<file path=ppt/theme/theme1.xml><?xml version="1.0" encoding="utf-8"?>
<a:theme xmlns:a="http://schemas.openxmlformats.org/drawingml/2006/main" name="Faseta">
  <a:themeElements>
    <a:clrScheme name="Fas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s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s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</TotalTime>
  <Words>506</Words>
  <Application>Microsoft Office PowerPoint</Application>
  <PresentationFormat>Panoramiczny</PresentationFormat>
  <Paragraphs>77</Paragraphs>
  <Slides>7</Slides>
  <Notes>0</Notes>
  <HiddenSlides>0</HiddenSlides>
  <MMClips>1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Trebuchet MS</vt:lpstr>
      <vt:lpstr>Wingdings</vt:lpstr>
      <vt:lpstr>Wingdings 3</vt:lpstr>
      <vt:lpstr>Faseta</vt:lpstr>
      <vt:lpstr>Oscary 2010</vt:lpstr>
      <vt:lpstr>Spis Slajdów</vt:lpstr>
      <vt:lpstr>Informacje o Oscarach</vt:lpstr>
      <vt:lpstr>Zwycięscy Oscara</vt:lpstr>
      <vt:lpstr>Informacje o najlepszym filmie</vt:lpstr>
      <vt:lpstr>Szegóły wydania najlepszego filmu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Uczen TEB Edukacja</dc:creator>
  <cp:lastModifiedBy>Uczen TEB Edukacja</cp:lastModifiedBy>
  <cp:revision>2</cp:revision>
  <dcterms:created xsi:type="dcterms:W3CDTF">2025-11-28T15:46:44Z</dcterms:created>
  <dcterms:modified xsi:type="dcterms:W3CDTF">2025-12-01T15:16:24Z</dcterms:modified>
</cp:coreProperties>
</file>